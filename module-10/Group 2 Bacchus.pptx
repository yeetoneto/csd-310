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6" r:id="rId7"/>
    <p:sldId id="264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6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1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9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3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1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5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7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0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5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47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2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83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22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1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76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4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C3EBD2-82BC-1626-B1FB-4175551BD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 dirty="0">
                <a:solidFill>
                  <a:schemeClr val="tx1"/>
                </a:solidFill>
              </a:rPr>
              <a:t>Group 2’s Bacchus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AAB4D-DC4C-88EE-0993-1955F2E0D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By Jasmine Fontus, Noah McCarthy, Suresh Shrestha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559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543F5-3B95-AF36-7BE9-8F2FA2F1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Desc.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1695-21C5-AD54-AD4E-4F2BF92C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This case study is to help Stan and Davis, who run a winery, get information for their yearly ‘snapshot’ of the business. The information they need is:</a:t>
            </a:r>
          </a:p>
          <a:p>
            <a:r>
              <a:rPr lang="en-US">
                <a:solidFill>
                  <a:schemeClr val="tx1"/>
                </a:solidFill>
              </a:rPr>
              <a:t>Are all suppliers delivering on time? Is there a large gap between expected delivery and actual delivery? A month-by-month report should show problem areas. </a:t>
            </a:r>
          </a:p>
          <a:p>
            <a:r>
              <a:rPr lang="en-US">
                <a:solidFill>
                  <a:schemeClr val="tx1"/>
                </a:solidFill>
              </a:rPr>
              <a:t>The wine distribution, are all wines selling as they thought? Is one wine not selling? Which distributor carries which wine? </a:t>
            </a:r>
          </a:p>
          <a:p>
            <a:r>
              <a:rPr lang="en-US">
                <a:solidFill>
                  <a:schemeClr val="tx1"/>
                </a:solidFill>
              </a:rPr>
              <a:t> Employee time. During the last four quarters, how many hours did each employee work?</a:t>
            </a:r>
          </a:p>
        </p:txBody>
      </p:sp>
    </p:spTree>
    <p:extLst>
      <p:ext uri="{BB962C8B-B14F-4D97-AF65-F5344CB8AC3E}">
        <p14:creationId xmlns:p14="http://schemas.microsoft.com/office/powerpoint/2010/main" val="118320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8200-747F-4902-3017-E267E668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6D85-6FE9-74C4-A9AF-664538EE4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8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CAC4-C6E7-D2B5-AFB9-94DED68E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Supplier Delivering on Time?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650AB-0133-C878-AAA8-318252DBF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84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FB7-FA2A-4AE7-E031-F5BB83FC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All Wine Selling as They Thought?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4F74-3435-436F-FB51-48DFA947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146" y="2640076"/>
            <a:ext cx="8825659" cy="3416300"/>
          </a:xfrm>
        </p:spPr>
        <p:txBody>
          <a:bodyPr>
            <a:normAutofit/>
          </a:bodyPr>
          <a:lstStyle/>
          <a:p>
            <a:r>
              <a:rPr lang="en-US" dirty="0"/>
              <a:t>To answer this question, we need to query their database of Wines, which wines the Distributors carry, and the order history.</a:t>
            </a:r>
          </a:p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w.WineName</a:t>
            </a:r>
            <a:r>
              <a:rPr lang="en-US" sz="1000" dirty="0"/>
              <a:t>, COALESCE(SUM(</a:t>
            </a:r>
            <a:r>
              <a:rPr lang="en-US" sz="1000" dirty="0" err="1"/>
              <a:t>oi.OrderQuantity</a:t>
            </a:r>
            <a:r>
              <a:rPr lang="en-US" sz="1000" dirty="0"/>
              <a:t>),0) AS </a:t>
            </a:r>
            <a:r>
              <a:rPr lang="en-US" sz="1000" dirty="0" err="1"/>
              <a:t>TotalOrderedLastMonth</a:t>
            </a:r>
            <a:r>
              <a:rPr lang="en-US" sz="1000" dirty="0"/>
              <a:t> #Coalesce turns Null into 0 in this case</a:t>
            </a:r>
          </a:p>
          <a:p>
            <a:pPr marL="0" indent="0">
              <a:buNone/>
            </a:pPr>
            <a:r>
              <a:rPr lang="en-US" sz="1000" dirty="0"/>
              <a:t>    FROM Wine w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OrderItems</a:t>
            </a:r>
            <a:r>
              <a:rPr lang="en-US" sz="1000" dirty="0"/>
              <a:t> oi # use left joins so any wine not sold is still visible</a:t>
            </a:r>
          </a:p>
          <a:p>
            <a:pPr marL="0" indent="0">
              <a:buNone/>
            </a:pPr>
            <a:r>
              <a:rPr lang="fi-FI" sz="1000" dirty="0"/>
              <a:t>    ON w.WineID = oi.WineID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Distributor_Orders</a:t>
            </a:r>
            <a:r>
              <a:rPr lang="en-US" sz="1000" dirty="0"/>
              <a:t> o</a:t>
            </a:r>
          </a:p>
          <a:p>
            <a:pPr marL="0" indent="0">
              <a:buNone/>
            </a:pPr>
            <a:r>
              <a:rPr lang="en-US" sz="1000" dirty="0"/>
              <a:t>   ON </a:t>
            </a:r>
            <a:r>
              <a:rPr lang="en-US" sz="1000" dirty="0" err="1"/>
              <a:t>oi.OrderID</a:t>
            </a:r>
            <a:r>
              <a:rPr lang="en-US" sz="1000" dirty="0"/>
              <a:t> = </a:t>
            </a:r>
            <a:r>
              <a:rPr lang="en-US" sz="1000" dirty="0" err="1"/>
              <a:t>o.OrderID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AND </a:t>
            </a:r>
            <a:r>
              <a:rPr lang="en-US" sz="1000" dirty="0" err="1"/>
              <a:t>o.OrderDate</a:t>
            </a:r>
            <a:r>
              <a:rPr lang="en-US" sz="1000" dirty="0"/>
              <a:t> &gt;= DATE_SUB(CURDATE(), INTERVAL 1 MONTH) #takes todays date and subtracts month to determine if it is in range</a:t>
            </a:r>
          </a:p>
          <a:p>
            <a:pPr marL="0" indent="0">
              <a:buNone/>
            </a:pPr>
            <a:r>
              <a:rPr lang="en-US" sz="1000" dirty="0"/>
              <a:t>GROUP BY </a:t>
            </a:r>
            <a:r>
              <a:rPr lang="en-US" sz="1000" dirty="0" err="1"/>
              <a:t>w.WineID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</a:t>
            </a:r>
          </a:p>
          <a:p>
            <a:pPr marL="0" indent="0">
              <a:buNone/>
            </a:pPr>
            <a:r>
              <a:rPr lang="en-US" sz="1000" dirty="0"/>
              <a:t>"SELECT * FROM Wine;" # display Wines in stock records</a:t>
            </a: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5228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F67C-4FC6-912C-650A-1F17583C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6DFAF-F35D-2D2D-05B7-C964F97F8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 FROM Distributor d</a:t>
            </a:r>
          </a:p>
          <a:p>
            <a:pPr marL="0" indent="0">
              <a:buNone/>
            </a:pPr>
            <a:r>
              <a:rPr lang="en-US" sz="1000" dirty="0"/>
              <a:t>JOIN </a:t>
            </a:r>
            <a:r>
              <a:rPr lang="en-US" sz="1000" dirty="0" err="1"/>
              <a:t>DistributorWine</a:t>
            </a:r>
            <a:r>
              <a:rPr lang="en-US" sz="1000" dirty="0"/>
              <a:t> </a:t>
            </a:r>
            <a:r>
              <a:rPr lang="en-US" sz="1000" dirty="0" err="1"/>
              <a:t>dw</a:t>
            </a:r>
            <a:r>
              <a:rPr lang="en-US" sz="1000" dirty="0"/>
              <a:t>  #Joins the </a:t>
            </a:r>
            <a:r>
              <a:rPr lang="en-US" sz="1000" dirty="0" err="1"/>
              <a:t>DistributorWine</a:t>
            </a:r>
            <a:r>
              <a:rPr lang="en-US" sz="1000" dirty="0"/>
              <a:t> table that stores wines they carry with the Distributor Table to display the </a:t>
            </a:r>
            <a:r>
              <a:rPr lang="en-US" sz="1000" dirty="0" err="1"/>
              <a:t>distributorname</a:t>
            </a:r>
            <a:r>
              <a:rPr lang="en-US" sz="1000" dirty="0"/>
              <a:t> with the wine they carry</a:t>
            </a:r>
          </a:p>
          <a:p>
            <a:pPr marL="0" indent="0">
              <a:buNone/>
            </a:pPr>
            <a:r>
              <a:rPr lang="en-US" sz="1000" dirty="0"/>
              <a:t>    ON </a:t>
            </a:r>
            <a:r>
              <a:rPr lang="en-US" sz="1000" dirty="0" err="1"/>
              <a:t>d.DistributorID</a:t>
            </a:r>
            <a:r>
              <a:rPr lang="en-US" sz="1000" dirty="0"/>
              <a:t> = </a:t>
            </a:r>
            <a:r>
              <a:rPr lang="en-US" sz="1000" dirty="0" err="1"/>
              <a:t>dw.DistributorID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JOIN Wine w  #Joins Wine Table to include the </a:t>
            </a:r>
            <a:r>
              <a:rPr lang="en-US" sz="1000" dirty="0" err="1"/>
              <a:t>WineName</a:t>
            </a:r>
            <a:r>
              <a:rPr lang="en-US" sz="1000" dirty="0"/>
              <a:t> with the </a:t>
            </a:r>
            <a:r>
              <a:rPr lang="en-US" sz="1000" dirty="0" err="1"/>
              <a:t>distributorname</a:t>
            </a:r>
            <a:r>
              <a:rPr lang="en-US" sz="1000" dirty="0"/>
              <a:t> output</a:t>
            </a:r>
          </a:p>
          <a:p>
            <a:pPr marL="0" indent="0">
              <a:buNone/>
            </a:pPr>
            <a:r>
              <a:rPr lang="fi-FI" sz="1000" dirty="0"/>
              <a:t>    ON dw.WineID = w.WineID</a:t>
            </a:r>
          </a:p>
          <a:p>
            <a:pPr marL="0" indent="0">
              <a:buNone/>
            </a:pPr>
            <a:r>
              <a:rPr lang="en-US" sz="1000" dirty="0"/>
              <a:t>ORDER BY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74842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FA37-3DC5-F14E-6921-4099C105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of the Records Pulled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2C8657-AF41-46C3-44E7-FF3A890AE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9238" y="1998265"/>
            <a:ext cx="6491646" cy="466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51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7127-7126-BC13-3CA0-B0E8D0F4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Stan and Davis deduce from this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B065-6D7B-D8FC-9A4C-B142D5FE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for one thing, they didn’t sell any Chablis Wine this last month.</a:t>
            </a:r>
          </a:p>
          <a:p>
            <a:r>
              <a:rPr lang="en-US" dirty="0"/>
              <a:t>They know the reason for this is that they are out of stock of this wine.</a:t>
            </a:r>
          </a:p>
          <a:p>
            <a:r>
              <a:rPr lang="en-US" dirty="0"/>
              <a:t>They can understand which distributors are willing to buy which wine.</a:t>
            </a:r>
          </a:p>
          <a:p>
            <a:r>
              <a:rPr lang="en-US" dirty="0"/>
              <a:t>Eventually deduce which wine is their most popular</a:t>
            </a:r>
          </a:p>
        </p:txBody>
      </p:sp>
    </p:spTree>
    <p:extLst>
      <p:ext uri="{BB962C8B-B14F-4D97-AF65-F5344CB8AC3E}">
        <p14:creationId xmlns:p14="http://schemas.microsoft.com/office/powerpoint/2010/main" val="588784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43D9-B926-7215-947D-79EBA0BE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Hours did Employees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7F25-1C60-C4AC-DCCB-13FDD3839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7126-07DD-4B02-3CB0-7CDB5993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4811-7C33-CD1E-257A-AADF47597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wine-selling query, I assumed they wanted a limited history of the wine sold, and I assumed it to be a month.</a:t>
            </a:r>
          </a:p>
          <a:p>
            <a:r>
              <a:rPr lang="en-US" dirty="0"/>
              <a:t>Also, in the wine-selling query, I assumed they would want to see their wine’s stock to see if there is any reason they are not selling any wine.</a:t>
            </a:r>
          </a:p>
        </p:txBody>
      </p:sp>
    </p:spTree>
    <p:extLst>
      <p:ext uri="{BB962C8B-B14F-4D97-AF65-F5344CB8AC3E}">
        <p14:creationId xmlns:p14="http://schemas.microsoft.com/office/powerpoint/2010/main" val="2021112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</TotalTime>
  <Words>498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Group 2’s Bacchus Case Study</vt:lpstr>
      <vt:lpstr>Desc.</vt:lpstr>
      <vt:lpstr>ERD</vt:lpstr>
      <vt:lpstr>Are Supplier Delivering on Time?</vt:lpstr>
      <vt:lpstr>Are All Wine Selling as They Thought?</vt:lpstr>
      <vt:lpstr>Query Continued</vt:lpstr>
      <vt:lpstr>Image of the Records Pulled</vt:lpstr>
      <vt:lpstr>What can Stan and Davis deduce from this data?</vt:lpstr>
      <vt:lpstr>How Many Hours did Employees Work?</vt:lpstr>
      <vt:lpstr>Assumptions We Made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McCarthy</dc:creator>
  <cp:lastModifiedBy>Noah McCarthy</cp:lastModifiedBy>
  <cp:revision>3</cp:revision>
  <dcterms:created xsi:type="dcterms:W3CDTF">2026-03-05T18:11:03Z</dcterms:created>
  <dcterms:modified xsi:type="dcterms:W3CDTF">2026-03-06T15:16:02Z</dcterms:modified>
</cp:coreProperties>
</file>